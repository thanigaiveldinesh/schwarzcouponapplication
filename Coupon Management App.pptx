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77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92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4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03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90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7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373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89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615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62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49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007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924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1394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711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55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40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6F66C3-EEB6-4D6B-99FF-EA5AF58A4239}" type="datetimeFigureOut">
              <a:rPr lang="en-IN" smtClean="0"/>
              <a:t>21-10-2025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809AE2-0D18-4522-8EAD-32E6FD6FA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202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32A32-4763-6F66-5935-6085F34EB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0" y="1959429"/>
            <a:ext cx="8574622" cy="1088571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Coupon Management App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B51C5AA-2AD1-2630-DAE7-5781E942AFDC}"/>
              </a:ext>
            </a:extLst>
          </p:cNvPr>
          <p:cNvSpPr txBox="1">
            <a:spLocks/>
          </p:cNvSpPr>
          <p:nvPr/>
        </p:nvSpPr>
        <p:spPr>
          <a:xfrm>
            <a:off x="5399996" y="3017822"/>
            <a:ext cx="6378562" cy="1088571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6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IN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Presenter: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Dinesh Thanigaivel</a:t>
            </a:r>
          </a:p>
          <a:p>
            <a:pPr algn="l"/>
            <a:r>
              <a:rPr lang="en-IN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Reviewers: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Sven Haase &amp; Robert Blesch</a:t>
            </a:r>
          </a:p>
        </p:txBody>
      </p:sp>
    </p:spTree>
    <p:extLst>
      <p:ext uri="{BB962C8B-B14F-4D97-AF65-F5344CB8AC3E}">
        <p14:creationId xmlns:p14="http://schemas.microsoft.com/office/powerpoint/2010/main" val="918723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2ECC-9E4C-81B0-F6A0-FB480D9D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510" y="315686"/>
            <a:ext cx="2358346" cy="1262743"/>
          </a:xfrm>
        </p:spPr>
        <p:txBody>
          <a:bodyPr/>
          <a:lstStyle/>
          <a:p>
            <a:r>
              <a:rPr lang="en-IN" b="1" u="sng" dirty="0">
                <a:latin typeface="Calibri" panose="020F0502020204030204" pitchFamily="34" charset="0"/>
                <a:cs typeface="Calibri" panose="020F0502020204030204" pitchFamily="34" charset="0"/>
              </a:rPr>
              <a:t>Agenda: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326D1-A902-0805-ACBA-5E99D43C7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343" y="947057"/>
            <a:ext cx="7420204" cy="4332513"/>
          </a:xfrm>
        </p:spPr>
        <p:txBody>
          <a:bodyPr>
            <a:normAutofit/>
          </a:bodyPr>
          <a:lstStyle/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Architecture Diagram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API Functionality Overview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Identified Bugs by Class / Module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Improvements and Suggestions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8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D7BE-9323-5448-8B1D-58550F9D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585" y="785388"/>
            <a:ext cx="4198032" cy="859971"/>
          </a:xfrm>
        </p:spPr>
        <p:txBody>
          <a:bodyPr/>
          <a:lstStyle/>
          <a:p>
            <a:r>
              <a:rPr lang="en-IN" b="1" u="sng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r>
              <a:rPr lang="en-IN" b="1" u="sng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74E8-2F4C-B3CE-5FA6-741B12585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6328" y="1828799"/>
            <a:ext cx="10140338" cy="35761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Purpose of the Application: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coupon management system designed to create coupons and facilitate discounts and also maintains the coupon details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Key Technologies Used</a:t>
            </a: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Developed using Java and Spring Boot, Swagger, with JPA for database interaction and H2 for in-memory storage during testing.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API-Driven Architecture</a:t>
            </a: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Utilizes RESTful APIs to provide a scalable and modular approach for handling coupon operations.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u="sng" dirty="0">
                <a:latin typeface="Calibri" panose="020F0502020204030204" pitchFamily="34" charset="0"/>
                <a:cs typeface="Calibri" panose="020F0502020204030204" pitchFamily="34" charset="0"/>
              </a:rPr>
              <a:t>Scope of Review</a:t>
            </a:r>
            <a:r>
              <a:rPr lang="en-US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Focuses on identifying code quality issues, potential bugs, and proposing improvements to enhance maintainability and performance.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13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A3EC-990B-F036-1FFE-A2ABBB28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24543"/>
            <a:ext cx="5253946" cy="1752599"/>
          </a:xfrm>
        </p:spPr>
        <p:txBody>
          <a:bodyPr/>
          <a:lstStyle/>
          <a:p>
            <a:r>
              <a:rPr lang="en-IN" b="1" u="sng" dirty="0">
                <a:latin typeface="Calibri" panose="020F0502020204030204" pitchFamily="34" charset="0"/>
                <a:cs typeface="Calibri" panose="020F0502020204030204" pitchFamily="34" charset="0"/>
              </a:rPr>
              <a:t>Architecture</a:t>
            </a:r>
            <a:r>
              <a:rPr lang="en-IN" b="1" u="sng" dirty="0"/>
              <a:t> Diagram: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EBCB6B-6638-9144-E724-75AB70C07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338" y="1959428"/>
            <a:ext cx="9631890" cy="4158343"/>
          </a:xfrm>
        </p:spPr>
      </p:pic>
    </p:spTree>
    <p:extLst>
      <p:ext uri="{BB962C8B-B14F-4D97-AF65-F5344CB8AC3E}">
        <p14:creationId xmlns:p14="http://schemas.microsoft.com/office/powerpoint/2010/main" val="1974993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9C13-52E3-74FE-B5DA-FB8F087CB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913" y="1209932"/>
            <a:ext cx="7179855" cy="1136963"/>
          </a:xfrm>
        </p:spPr>
        <p:txBody>
          <a:bodyPr>
            <a:normAutofit fontScale="90000"/>
          </a:bodyPr>
          <a:lstStyle/>
          <a:p>
            <a:r>
              <a:rPr lang="en-IN" sz="4400" b="1" u="sng" dirty="0">
                <a:latin typeface="Calibri" panose="020F0502020204030204" pitchFamily="34" charset="0"/>
                <a:cs typeface="Calibri" panose="020F0502020204030204" pitchFamily="34" charset="0"/>
              </a:rPr>
              <a:t>API Functionality Overview:</a:t>
            </a:r>
            <a:br>
              <a:rPr lang="en-IN" u="sng" dirty="0"/>
            </a:b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3D6D2-C8E6-857B-2DE4-FD09D965A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993" y="2017040"/>
            <a:ext cx="8003718" cy="3124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Create coupon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POST /api/create</a:t>
            </a:r>
          </a:p>
          <a:p>
            <a:pPr marL="457200" lvl="1" indent="0">
              <a:buNone/>
            </a:pPr>
            <a:r>
              <a:rPr lang="en-US" sz="1600" dirty="0"/>
              <a:t>	Creates a new coupon with code, discount, and minimum basket value.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Get coupon       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GET /api/coupons</a:t>
            </a:r>
          </a:p>
          <a:p>
            <a:pPr marL="457200" lvl="1" indent="0">
              <a:buNone/>
            </a:pPr>
            <a:r>
              <a:rPr lang="en-US" sz="1600" dirty="0"/>
              <a:t>	Retrieves coupons based on provided codes</a:t>
            </a:r>
            <a:endParaRPr lang="en-I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Apply Discount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POST /api/apply</a:t>
            </a:r>
          </a:p>
          <a:p>
            <a:pPr marL="457200" lvl="1" indent="0">
              <a:buNone/>
            </a:pPr>
            <a:r>
              <a:rPr lang="en-US" sz="1600" dirty="0"/>
              <a:t>	Applies a coupon to a basket and calculates the discount</a:t>
            </a:r>
            <a:endParaRPr lang="en-I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321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7515B-5017-A2D8-EF5C-CAEB40E77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251" y="383352"/>
            <a:ext cx="8273465" cy="760490"/>
          </a:xfrm>
        </p:spPr>
        <p:txBody>
          <a:bodyPr>
            <a:normAutofit/>
          </a:bodyPr>
          <a:lstStyle/>
          <a:p>
            <a:r>
              <a:rPr lang="en-US" b="1" u="sng" dirty="0"/>
              <a:t>Identified Bugs by Class / Module:</a:t>
            </a:r>
            <a:endParaRPr lang="en-IN" b="1" u="sng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52D06EC-42D9-064F-0C56-2FA780195936}"/>
              </a:ext>
            </a:extLst>
          </p:cNvPr>
          <p:cNvSpPr txBox="1">
            <a:spLocks/>
          </p:cNvSpPr>
          <p:nvPr/>
        </p:nvSpPr>
        <p:spPr>
          <a:xfrm>
            <a:off x="3015181" y="5844784"/>
            <a:ext cx="8273465" cy="7604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Note: Bug details are available in “Bugs_report.docx”</a:t>
            </a:r>
            <a:endParaRPr lang="en-IN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1E08BD9-2BEA-D919-2A84-64F9C439B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27453"/>
              </p:ext>
            </p:extLst>
          </p:nvPr>
        </p:nvGraphicFramePr>
        <p:xfrm>
          <a:off x="2166257" y="1284514"/>
          <a:ext cx="8697686" cy="441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2198">
                  <a:extLst>
                    <a:ext uri="{9D8B030D-6E8A-4147-A177-3AD203B41FA5}">
                      <a16:colId xmlns:a16="http://schemas.microsoft.com/office/drawing/2014/main" val="2948415146"/>
                    </a:ext>
                  </a:extLst>
                </a:gridCol>
                <a:gridCol w="3895488">
                  <a:extLst>
                    <a:ext uri="{9D8B030D-6E8A-4147-A177-3AD203B41FA5}">
                      <a16:colId xmlns:a16="http://schemas.microsoft.com/office/drawing/2014/main" val="382863343"/>
                    </a:ext>
                  </a:extLst>
                </a:gridCol>
              </a:tblGrid>
              <a:tr h="39810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Class / 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Bugs Identified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23258626"/>
                  </a:ext>
                </a:extLst>
              </a:tr>
              <a:tr h="3981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application.yml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9100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</a:t>
                      </a: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sql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761840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build. </a:t>
                      </a:r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gradle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13389221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CouponRepository.java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66214142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CouponService.java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60634473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Basket.java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65512151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Coupon.java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33550293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CouponDTO.java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76229334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ApplicationRequestDTO.java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16567937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CouponRequestDTO.java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02279604"/>
                  </a:ext>
                </a:extLst>
              </a:tr>
              <a:tr h="568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CouponResource.java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36884564"/>
                  </a:ext>
                </a:extLst>
              </a:tr>
              <a:tr h="3054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CouponServiceTest.java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44546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29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701C-3182-5A4C-5820-7A863F1C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120" y="569233"/>
            <a:ext cx="7569154" cy="1224481"/>
          </a:xfrm>
        </p:spPr>
        <p:txBody>
          <a:bodyPr>
            <a:noAutofit/>
          </a:bodyPr>
          <a:lstStyle/>
          <a:p>
            <a:r>
              <a:rPr lang="en-IN" b="1" u="sng" dirty="0">
                <a:latin typeface="Calibri" panose="020F0502020204030204" pitchFamily="34" charset="0"/>
                <a:cs typeface="Calibri" panose="020F0502020204030204" pitchFamily="34" charset="0"/>
              </a:rPr>
              <a:t>Improvements and suggestions:</a:t>
            </a:r>
            <a:br>
              <a:rPr lang="en-IN" b="1" u="sng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A013D-6541-EAD4-D89A-4F61D4E92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705" y="1181473"/>
            <a:ext cx="9536775" cy="5011093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Use @RestController Instead of @Controller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Simplifies code by combining @Controller + @ResponseBody.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Proper HTTP Status Codes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Use 201 Created, 404 Not Found, 409 Conflict, 400 Bad Request for accurate API responses.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Use Slf4j for logging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Replace System.out.println with log.info/debug/error for maintainable logs.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DTO Validation Enhancement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Add @NotNull, @NotBlank, @Positive annotations to prevent invalid input.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Safe Optional Handling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Avoid .get() on Optional; use </a:t>
            </a:r>
            <a:r>
              <a:rPr lang="en-US" sz="1400" dirty="0" err="1"/>
              <a:t>ifPresent</a:t>
            </a:r>
            <a:r>
              <a:rPr lang="en-US" sz="1400" dirty="0"/>
              <a:t>(), </a:t>
            </a:r>
            <a:r>
              <a:rPr lang="en-US" sz="1400" dirty="0" err="1"/>
              <a:t>orElseThrow</a:t>
            </a:r>
            <a:r>
              <a:rPr lang="en-US" sz="1400" dirty="0"/>
              <a:t>() to prevent runtime exceptions.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Increase Test Coverage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400" dirty="0"/>
              <a:t>Add negative and boundary test cases to ensure all scenarios are validated.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88A52B-3411-6DB6-2E2E-1C10DC83D3D3}"/>
              </a:ext>
            </a:extLst>
          </p:cNvPr>
          <p:cNvSpPr txBox="1">
            <a:spLocks/>
          </p:cNvSpPr>
          <p:nvPr/>
        </p:nvSpPr>
        <p:spPr>
          <a:xfrm>
            <a:off x="5866647" y="2141897"/>
            <a:ext cx="4382334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00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CEDB-87D4-CDE9-F990-BE4CDEAB1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096" y="1716385"/>
            <a:ext cx="10018713" cy="3124201"/>
          </a:xfrm>
        </p:spPr>
        <p:txBody>
          <a:bodyPr/>
          <a:lstStyle/>
          <a:p>
            <a:pPr marL="0" indent="0" algn="ctr">
              <a:buNone/>
            </a:pPr>
            <a:r>
              <a:rPr lang="de-DE" sz="3600" dirty="0"/>
              <a:t>Thanks, Have a nice day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423275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520</TotalTime>
  <Words>389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Calibri</vt:lpstr>
      <vt:lpstr>Corbel</vt:lpstr>
      <vt:lpstr>Wingdings</vt:lpstr>
      <vt:lpstr>Parallax</vt:lpstr>
      <vt:lpstr>Coupon Management App</vt:lpstr>
      <vt:lpstr>Agenda:</vt:lpstr>
      <vt:lpstr>Introduction:</vt:lpstr>
      <vt:lpstr>Architecture Diagram:</vt:lpstr>
      <vt:lpstr>API Functionality Overview: </vt:lpstr>
      <vt:lpstr>Identified Bugs by Class / Module:</vt:lpstr>
      <vt:lpstr>Improvements and suggestions: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Kamatchi Arumugam</dc:creator>
  <cp:lastModifiedBy>Kamatchi Arumugam</cp:lastModifiedBy>
  <cp:revision>22</cp:revision>
  <dcterms:created xsi:type="dcterms:W3CDTF">2025-10-20T12:26:31Z</dcterms:created>
  <dcterms:modified xsi:type="dcterms:W3CDTF">2025-10-21T17:13:16Z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850223-87a8-40c3-9eb2-432606efca2a_Enabled">
    <vt:lpwstr>true</vt:lpwstr>
  </property>
  <property fmtid="{D5CDD505-2E9C-101B-9397-08002B2CF9AE}" pid="3" name="MSIP_Label_7f850223-87a8-40c3-9eb2-432606efca2a_SetDate">
    <vt:lpwstr>2025-10-21T11:14:27Z</vt:lpwstr>
  </property>
  <property fmtid="{D5CDD505-2E9C-101B-9397-08002B2CF9AE}" pid="4" name="MSIP_Label_7f850223-87a8-40c3-9eb2-432606efca2a_Method">
    <vt:lpwstr>Privileged</vt:lpwstr>
  </property>
  <property fmtid="{D5CDD505-2E9C-101B-9397-08002B2CF9AE}" pid="5" name="MSIP_Label_7f850223-87a8-40c3-9eb2-432606efca2a_Name">
    <vt:lpwstr>7f850223-87a8-40c3-9eb2-432606efca2a</vt:lpwstr>
  </property>
  <property fmtid="{D5CDD505-2E9C-101B-9397-08002B2CF9AE}" pid="6" name="MSIP_Label_7f850223-87a8-40c3-9eb2-432606efca2a_SiteId">
    <vt:lpwstr>fcb2b37b-5da0-466b-9b83-0014b67a7c78</vt:lpwstr>
  </property>
  <property fmtid="{D5CDD505-2E9C-101B-9397-08002B2CF9AE}" pid="7" name="MSIP_Label_7f850223-87a8-40c3-9eb2-432606efca2a_ActionId">
    <vt:lpwstr>ed4570cb-fae4-4b23-906a-3e2fe61c3db8</vt:lpwstr>
  </property>
  <property fmtid="{D5CDD505-2E9C-101B-9397-08002B2CF9AE}" pid="8" name="MSIP_Label_7f850223-87a8-40c3-9eb2-432606efca2a_ContentBits">
    <vt:lpwstr>0</vt:lpwstr>
  </property>
  <property fmtid="{D5CDD505-2E9C-101B-9397-08002B2CF9AE}" pid="9" name="MSIP_Label_7f850223-87a8-40c3-9eb2-432606efca2a_Tag">
    <vt:lpwstr>10, 0, 1, 1</vt:lpwstr>
  </property>
</Properties>
</file>